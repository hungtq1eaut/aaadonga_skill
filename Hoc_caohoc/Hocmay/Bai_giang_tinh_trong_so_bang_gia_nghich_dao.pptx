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99ac2719e4efe" /><Relationship Type="http://schemas.openxmlformats.org/officeDocument/2006/relationships/extended-properties" Target="/docProps/app.xml" Id="Ra255b0fb97d547cf" /><Relationship Type="http://schemas.openxmlformats.org/officeDocument/2006/relationships/officeDocument" Target="/ppt/presentation.xml" Id="R8069b77015d3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6f9576a1f34847"/>
  </p:sldMasterIdLst>
  <p:notesMasterIdLst>
    <p:notesMasterId xmlns:r="http://schemas.openxmlformats.org/officeDocument/2006/relationships" r:id="R44fa44f3f71d4f39"/>
  </p:notesMasterIdLst>
  <p:sldIdLst>
    <p:sldId xmlns:r="http://schemas.openxmlformats.org/officeDocument/2006/relationships" id="256" r:id="Re123f9c612174969"/>
    <p:sldId xmlns:r="http://schemas.openxmlformats.org/officeDocument/2006/relationships" id="257" r:id="Radcb549233e94668"/>
    <p:sldId xmlns:r="http://schemas.openxmlformats.org/officeDocument/2006/relationships" id="258" r:id="Reac9911634f74ca6"/>
    <p:sldId xmlns:r="http://schemas.openxmlformats.org/officeDocument/2006/relationships" id="259" r:id="R5508c8d595114f5b"/>
    <p:sldId xmlns:r="http://schemas.openxmlformats.org/officeDocument/2006/relationships" id="260" r:id="R0b91b3c5784f4870"/>
    <p:sldId xmlns:r="http://schemas.openxmlformats.org/officeDocument/2006/relationships" id="261" r:id="Rb8e5547d8f384957"/>
    <p:sldId xmlns:r="http://schemas.openxmlformats.org/officeDocument/2006/relationships" id="262" r:id="Rdfdd44aae33244e4"/>
    <p:sldId xmlns:r="http://schemas.openxmlformats.org/officeDocument/2006/relationships" id="263" r:id="R2849913a064e4b83"/>
    <p:sldId xmlns:r="http://schemas.openxmlformats.org/officeDocument/2006/relationships" id="264" r:id="R99c24ecd185b4e87"/>
    <p:sldId xmlns:r="http://schemas.openxmlformats.org/officeDocument/2006/relationships" id="265" r:id="Ra96611ed9b09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a94ca520ba49df" /><Relationship Type="http://schemas.openxmlformats.org/officeDocument/2006/relationships/slideMaster" Target="/ppt/slideMasters/slideMaster1.xml" Id="Red6f9576a1f34847" /><Relationship Type="http://schemas.openxmlformats.org/officeDocument/2006/relationships/notesMaster" Target="/ppt/notesMasters/notesMaster1.xml" Id="R44fa44f3f71d4f39" /><Relationship Type="http://schemas.openxmlformats.org/officeDocument/2006/relationships/presProps" Target="/ppt/presProps.xml" Id="R4bd7716f22e34e6a" /><Relationship Type="http://schemas.openxmlformats.org/officeDocument/2006/relationships/tableStyles" Target="/ppt/tableStyles.xml" Id="R5fb374fa9a8d4dcc" /><Relationship Type="http://schemas.openxmlformats.org/officeDocument/2006/relationships/slide" Target="/ppt/slides/slide1.xml" Id="Re123f9c612174969" /><Relationship Type="http://schemas.openxmlformats.org/officeDocument/2006/relationships/slide" Target="/ppt/slides/slide2.xml" Id="Radcb549233e94668" /><Relationship Type="http://schemas.openxmlformats.org/officeDocument/2006/relationships/slide" Target="/ppt/slides/slide3.xml" Id="Reac9911634f74ca6" /><Relationship Type="http://schemas.openxmlformats.org/officeDocument/2006/relationships/slide" Target="/ppt/slides/slide4.xml" Id="R5508c8d595114f5b" /><Relationship Type="http://schemas.openxmlformats.org/officeDocument/2006/relationships/slide" Target="/ppt/slides/slide5.xml" Id="R0b91b3c5784f4870" /><Relationship Type="http://schemas.openxmlformats.org/officeDocument/2006/relationships/slide" Target="/ppt/slides/slide6.xml" Id="Rb8e5547d8f384957" /><Relationship Type="http://schemas.openxmlformats.org/officeDocument/2006/relationships/slide" Target="/ppt/slides/slide7.xml" Id="Rdfdd44aae33244e4" /><Relationship Type="http://schemas.openxmlformats.org/officeDocument/2006/relationships/slide" Target="/ppt/slides/slide8.xml" Id="R2849913a064e4b83" /><Relationship Type="http://schemas.openxmlformats.org/officeDocument/2006/relationships/slide" Target="/ppt/slides/slide9.xml" Id="R99c24ecd185b4e87" /><Relationship Type="http://schemas.openxmlformats.org/officeDocument/2006/relationships/slide" Target="/ppt/slides/slide10.xml" Id="Ra96611ed9b09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0ebb6e2f5244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2cb02afc446c0" /><Relationship Type="http://schemas.openxmlformats.org/officeDocument/2006/relationships/notesMaster" Target="/ppt/notesMasters/notesMaster1.xml" Id="Rc32fdf209ba040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7a38b041a47d0" /><Relationship Type="http://schemas.openxmlformats.org/officeDocument/2006/relationships/notesMaster" Target="/ppt/notesMasters/notesMaster1.xml" Id="R98852f244e6c4b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9bccc6a7dd4e85" /><Relationship Type="http://schemas.openxmlformats.org/officeDocument/2006/relationships/notesMaster" Target="/ppt/notesMasters/notesMaster1.xml" Id="R6eb989065ba6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0eeb4a36547ed" /><Relationship Type="http://schemas.openxmlformats.org/officeDocument/2006/relationships/notesMaster" Target="/ppt/notesMasters/notesMaster1.xml" Id="Raa235416f23b4e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36b95657e64b4d" /><Relationship Type="http://schemas.openxmlformats.org/officeDocument/2006/relationships/notesMaster" Target="/ppt/notesMasters/notesMaster1.xml" Id="R04cf118e52da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398a16a65f4eed" /><Relationship Type="http://schemas.openxmlformats.org/officeDocument/2006/relationships/notesMaster" Target="/ppt/notesMasters/notesMaster1.xml" Id="R36db55fb0735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9585fb44fa41ff" /><Relationship Type="http://schemas.openxmlformats.org/officeDocument/2006/relationships/notesMaster" Target="/ppt/notesMasters/notesMaster1.xml" Id="R6920d7a2349f44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5d04d27d8544b5" /><Relationship Type="http://schemas.openxmlformats.org/officeDocument/2006/relationships/notesMaster" Target="/ppt/notesMasters/notesMaster1.xml" Id="R21efc78ddc2144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17f118a500449c" /><Relationship Type="http://schemas.openxmlformats.org/officeDocument/2006/relationships/notesMaster" Target="/ppt/notesMasters/notesMaster1.xml" Id="R846e069014764a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725acd589644e6" /><Relationship Type="http://schemas.openxmlformats.org/officeDocument/2006/relationships/notesMaster" Target="/ppt/notesMasters/notesMaster1.xml" Id="Reab9ba90358c40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5c06d7dcf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0f946ce1348b9" /><Relationship Type="http://schemas.openxmlformats.org/officeDocument/2006/relationships/slideLayout" Target="/ppt/slideLayouts/slideLayout1.xml" Id="R96d15a72ec634f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d15a72ec634f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b3accb1e489f" /><Relationship Type="http://schemas.openxmlformats.org/officeDocument/2006/relationships/notesSlide" Target="/ppt/notesSlides/notesSlide1.xml" Id="R43954738561745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db2300dd84f93" /><Relationship Type="http://schemas.openxmlformats.org/officeDocument/2006/relationships/notesSlide" Target="/ppt/notesSlides/notesSlide2.xml" Id="Rec21abcbaaee4e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e5d79d70d4ffa" /><Relationship Type="http://schemas.openxmlformats.org/officeDocument/2006/relationships/notesSlide" Target="/ppt/notesSlides/notesSlide3.xml" Id="R285bf768a7a744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38d58e2504745" /><Relationship Type="http://schemas.openxmlformats.org/officeDocument/2006/relationships/notesSlide" Target="/ppt/notesSlides/notesSlide4.xml" Id="R3d7ff1e239b241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ccd7374974e6b" /><Relationship Type="http://schemas.openxmlformats.org/officeDocument/2006/relationships/notesSlide" Target="/ppt/notesSlides/notesSlide5.xml" Id="R37aa88142a694f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be9fca5f6462c" /><Relationship Type="http://schemas.openxmlformats.org/officeDocument/2006/relationships/notesSlide" Target="/ppt/notesSlides/notesSlide6.xml" Id="Rb3e44164ca0748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039386a504867" /><Relationship Type="http://schemas.openxmlformats.org/officeDocument/2006/relationships/notesSlide" Target="/ppt/notesSlides/notesSlide7.xml" Id="R9f6c3a655e8d4f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0f0d9446d4d7c" /><Relationship Type="http://schemas.openxmlformats.org/officeDocument/2006/relationships/notesSlide" Target="/ppt/notesSlides/notesSlide8.xml" Id="R6e5e40f6b9e942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43c70e97a49ba" /><Relationship Type="http://schemas.openxmlformats.org/officeDocument/2006/relationships/notesSlide" Target="/ppt/notesSlides/notesSlide9.xml" Id="R36b7cf4304b441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2f7afd32346a6" /><Relationship Type="http://schemas.openxmlformats.org/officeDocument/2006/relationships/notesSlide" Target="/ppt/notesSlides/notesSlide10.xml" Id="R29e272e1d8fa46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94EB0-7666-4081-B83E-8AE74F17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32975-FD1F-4886-8D54-B4627CC4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6A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AA6A6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E1C91-3B97-4608-967C-B61B74D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Tính trọng số w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bằng giả nghịch đảo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E5A29-AD76-4371-A948-9FAE4A32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7E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C9D7E3"/>
                </a:solidFill>
                <a:latin typeface="DejaVu Sans"/>
                <a:ea typeface="DejaVu Sans"/>
                <a:cs typeface="DejaVu Sans"/>
              </a:rPr>
              <a:t>Triển khai chi tiết công thức  w = (XXᵀ)† Xy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EC2C5-346C-448C-9410-00FD7A67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9F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FC64B-A300-412B-841C-623A1C4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Ví dụ dự đoán giá nhà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8125D-15C2-4837-B952-1631F04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04875"/>
            <a:ext cx="3143250" cy="4476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2D47"/>
          </a:solidFill>
          <a:ln xmlns:a="http://schemas.openxmlformats.org/drawingml/2006/main" w="9525">
            <a:solidFill>
              <a:srgbClr val="2850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001D1-2FF9-4967-89A0-F3E7626A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F4BE4-2529-4CB6-8B28-8F11022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C8409-0259-4C1D-AA8A-8786C9F8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240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3C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C2E54-EB94-415B-95C8-D5893CA6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240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E63BE-B8D1-454B-8CD8-FA7D931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9F3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094F5-C677-4F06-8E61-642727F3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FD829-06E5-4B86-ACB0-2D6F740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3C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D2C4E-2EB2-468C-A754-7DDA6DF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F4FA6-1B87-45D5-A1C7-6A0F5BB9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820B-CFE1-4A2C-8A54-8C6A45C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BE826-CBEB-4337-A7F5-6E63EBA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3C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71855-19A4-4A87-A6A2-5E64693F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EC426-6802-4747-8D06-0F455B8C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9F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6F4D9-AFE1-45ED-A77E-BCDD55E4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DBDC7-E768-4F78-92BD-95758B0F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3C5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AF52D-0ED3-4C6C-9FA3-515D3B66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154A6-9F9F-4A3F-8DB0-F3C366B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766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A2E8C-F1F0-4CEB-87F9-80ED9BD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766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61D96-632D-4601-A0BB-DEA1855D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338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6CD25-DE13-4164-8945-4493A52A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14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FC4D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4D4"/>
                </a:solidFill>
                <a:latin typeface="DejaVu Sans"/>
                <a:ea typeface="DejaVu Sans"/>
                <a:cs typeface="DejaVu Sans"/>
              </a:rPr>
              <a:t>Ma trận đặc trưng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9254E-1AE9-4DA1-8BF6-1E857E7E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A9BC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FA9BC"/>
                </a:solidFill>
                <a:latin typeface="DejaVu Sans"/>
                <a:ea typeface="DejaVu Sans"/>
                <a:cs typeface="DejaVu Sans"/>
              </a:rPr>
              <a:t>Bài giảng minh họa • Các phép tính giữ nguyên dạng phân số</a:t>
            </a:r>
          </a:p>
        </p:txBody>
      </p:sp>
    </p:spTree>
    <p:extLst>
      <p:ext uri="{BB962C8B-B14F-4D97-AF65-F5344CB8AC3E}">
        <p14:creationId xmlns:p14="http://schemas.microsoft.com/office/powerpoint/2010/main" val="595400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ECB54F-ED38-4F9C-AF52-7FE193F1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BB125-D255-40FB-8961-789258E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316DC-2FAE-423A-8B61-D2FA4A91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Mô hình và dữ liệu đầu vào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C59D0-542B-4E26-9A01-E1555196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EF11C-95AF-4830-80C7-3A658B69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476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64A57-1703-4F32-A2F8-F021CFB1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ŷ = w₁x₁ + w₂x₂ + w₃x₃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FA505-8D74-4143-8EEC-C34A9B5E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Mô hình không có hệ số chặn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C225A-0E37-46BF-AFEF-992F1C5B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ADB75-3B2A-45E1-9E08-A409B21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A5C1F-9AFB-45BD-B01F-2B0038D5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x₁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8CC58-2B06-4CF7-A6F5-C6D11E22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Diện tích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06575-5CEB-400C-9B03-759E8D12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m²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93153-6124-41BC-A1C3-060C69E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5146E-74D0-421A-907A-3396A4D7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C5EEF-E47A-4536-8FEC-D49EED97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x₂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37579-EE80-46D9-B075-34B7D564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290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Số phòng ngủ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9ACBB-FC5F-4C2A-8904-DD0FD87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phòng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A947C-4E9C-465E-BB0A-0588866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20BFD-6E29-4A80-9B27-61686F72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9F3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9C386-42F8-4852-B7D9-9CF250D9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x₃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2D27E-B464-43B7-A9F7-D0216CE0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14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Khoảng cách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B1247-7F47-4ED7-8A19-3F9FE07F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243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km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005CF-E1C9-4C31-9E46-510D961A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E0A39-C891-4423-B997-9355613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90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D8A6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0E164-F7C1-4BFA-9785-C65B797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85535-8BB6-4CFF-962B-3D50B45D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00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Giá nhà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48E3B-CB5A-4C1B-A3F4-E1A59898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10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tỷ đồng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9DD17-1693-4667-8EB8-BADCFDD1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5962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EED62A-F0F4-453D-94EA-B733564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38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BA MẪU HUẤN LUYỆN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B93042-0811-44AA-B10C-777C2D9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952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A22DE-C93A-435B-BCB3-96124D61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Mẫu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83CA4-A4C2-4BD8-98E4-A6782E6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952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61819-22B2-4DD4-BDB9-B36B07A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x₁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45F40-BF69-4B36-9D53-7773409D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952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701AD2-B703-4809-82FF-23010B5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x₂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7DA813-E2D6-42D4-A99D-96C32F5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952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846454-3A7E-486F-A082-3E540C67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x₃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4928D4-5DCF-4053-A00E-051DB18B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95500"/>
            <a:ext cx="952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529D06-DBE5-4934-B9BE-4C886F8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95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43E023-3C05-4669-85DD-F6E190AD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064F90-50DC-40E4-B7AF-FE8DB658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02BC69-6A0F-427F-A23A-F091F10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670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C466F2-CB5D-426B-9F94-AB0E1F9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670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84734C-A8E5-484C-87C7-9BEED047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C593D2-F263-4447-960F-6298A164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C53C7A-C2C6-4EDC-9626-AD066CF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BBB2A6-4360-42C9-AAA4-5C6B6270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56E7F9-3053-4C16-9C89-A6FD07FA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670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2B3217-AA17-46FB-B63F-37207A23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670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8A6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D8A6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20AF2D-D9FB-4BB1-91B3-4DB54556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5E4C6A-3890-4153-AEC5-E8FB05B8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C91E16-07EF-4EC8-8E50-0C91AE9B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7185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0C491C-2A5D-4EBF-9CD6-50CF8D9E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718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73ADED-E9F8-4A78-856A-DBA05B7F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8C39FE-FA38-49C6-B963-ABC7C8F5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0B9210-17DA-478E-8B80-7CDDB6DD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FF7B73-8619-4B21-A3B4-E8980637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B4606C-8E34-4F87-A38D-F69C050B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BA5CB0-D5B0-48AF-B8C5-21EB7C9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8A6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D8A6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F6B212-0E95-42E0-93B5-FC65993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8E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FA4F47-440C-4120-9D0B-E48952F9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FD47B2-73C7-4D2E-A116-A2E4478D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8E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C79CC4-5C04-4557-A150-16EAFFE1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8F1DC0-3481-42EE-975B-CA60785A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8E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B9CE57-4C86-4AA5-B235-C6C73598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9F704C-2E7F-4D89-B2AC-E18843D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767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8E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66FD9E-5EF4-4485-B069-5C7A7B34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767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F24B25-E009-43E1-B2FA-B96CD2C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76700"/>
            <a:ext cx="95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8E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90099F-D61D-4160-8E06-9D879E2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767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8A6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D8A66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B8AF5D-27F3-4200-BB7B-CD2101A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Mỗi cột của X tương ứng với một căn nhà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E84EA3-1607-4895-BD24-70C0977C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145517-1A1C-4B88-BB95-71DD6225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816926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7899A-266C-4A19-91D4-5A3FCD2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99D75-36FA-4C19-A06E-787B4934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57AA1-B3C9-49BF-A7E0-CA61E6A3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Thiết lập ma trận theo đúng quy ước trong hình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27FF6-4AB5-4DAE-B4CA-2FF3944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AC2FD-C365-40EB-B26B-BCC3619C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C9110-C6A1-44FC-A586-74830AC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Đặc trưng × mẫu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8E79E-6B2F-4EC6-B527-A5F7413C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430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Các đặc trưng nằm theo hàng; mỗi căn nhà nằm theo cột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7216E-4257-4978-ABB1-A3623393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38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FF9EA-A627-4E40-BF18-A7587733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8196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X =  ⎡ 60   40   100 ⎤</a:t>
            </a:r>
          </a:p>
          <a:p xmlns:a="http://schemas.openxmlformats.org/drawingml/2006/main">
            <a:pPr algn="ctr">
              <a:defRPr sz="20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⎢  2     2      3 ⎥</a:t>
            </a:r>
          </a:p>
          <a:p xmlns:a="http://schemas.openxmlformats.org/drawingml/2006/main">
            <a:pPr algn="ctr">
              <a:defRPr sz="20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⎣ 10     5      7 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25210-E83B-4CDC-9A70-792E05A6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77DE0-8674-4247-BCE6-05B5D659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19621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y =  ⎡10⎤</a:t>
            </a:r>
          </a:p>
          <a:p xmlns:a="http://schemas.openxmlformats.org/drawingml/2006/main">
            <a:pPr algn="ctr">
              <a:def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⎢12⎥</a:t>
            </a:r>
          </a:p>
          <a:p xmlns:a="http://schemas.openxmlformats.org/drawingml/2006/main">
            <a:pPr algn="ctr">
              <a:def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⎣20⎦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C7FE4-2FDF-4609-91F1-565884B9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590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8239C-ABC4-419F-AB25-F195B960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21717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w =  ⎡w₁⎤</a:t>
            </a:r>
          </a:p>
          <a:p xmlns:a="http://schemas.openxmlformats.org/drawingml/2006/main">
            <a:pPr algn="ctr">
              <a:def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⎢w₂⎥</a:t>
            </a:r>
          </a:p>
          <a:p xmlns:a="http://schemas.openxmlformats.org/drawingml/2006/main">
            <a:pPr algn="ctr">
              <a:def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⎣w₃⎦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5F64C-CC57-4671-A44C-90CB9FBF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A20AC-2940-4320-9265-5C4DD12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6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AA6A6"/>
                </a:solidFill>
                <a:latin typeface="DejaVu Sans"/>
                <a:ea typeface="DejaVu Sans"/>
                <a:cs typeface="DejaVu Sans"/>
              </a:rPr>
              <a:t>CÔNG THỨC TÍNH TRỌNG SỐ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4808E-09DC-439E-A061-1BC1C2A3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 = (XXᵀ)† 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E406A-9784-4198-B1FD-16F070F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40DEE-419B-45B4-BC8D-707D4A5C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660677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0F3CFF-33F2-4388-BFBD-DECC7ACB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292AC-1173-4D7C-A13C-BCEDA8F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4908F-080A-4D93-BBEA-BDC740CB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Bước 1 — Tính ma trận XXᵀ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2DD00-4E3C-4BDB-B5E1-DCEA89EC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32E3C-AE8F-474C-A89C-892D5E75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0957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330DE-FF6A-4304-A935-79BE8581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3676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Xᵀ =  ⎡60   2   10⎤</a:t>
            </a:r>
          </a:p>
          <a:p xmlns:a="http://schemas.openxmlformats.org/drawingml/2006/main">
            <a:pPr algn="ctr">
              <a:defRPr sz="180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⎢40   2    5⎥</a:t>
            </a:r>
          </a:p>
          <a:p xmlns:a="http://schemas.openxmlformats.org/drawingml/2006/main">
            <a:pPr algn="ctr">
              <a:defRPr sz="180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⎣100  3    7⎦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00B95-5026-45C5-9D29-9B22532B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65341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1AA6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800F9-58E3-4431-86AE-52749170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24000"/>
            <a:ext cx="6115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XXᵀ =  ⎡15200   500   1500⎤</a:t>
            </a:r>
          </a:p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⎢  500    17     51⎥</a:t>
            </a:r>
          </a:p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⎣ 1500    51    174⎦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0728A-D61B-46E6-BBF8-519C5C0E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Cách hình thành từng phần tử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B8FC1-BAFA-4032-9E17-363D6E4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19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0A614-DA80-4A41-9BC8-441EC4E8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1C185-8A38-42F8-988E-990564C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(1,1)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000F9-9BAD-4102-AC74-C9683099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862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60² + 40² + 100²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918DC-2091-4CEE-BB31-DD686764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862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= 15 200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C64CB-BBAD-42C0-AB9E-FABC1554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5219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DC0CA-52D0-4368-AC3D-BC7C8D2F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29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84704-9D50-4925-BAF1-E79DDA5A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(1,2)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50227-311C-4A30-9C46-380F6B3B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862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60×2 + 40×2 + 100×3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BB126-4DA8-4D5B-BA25-19BCAEF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0862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= 500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7B345-2D79-4A78-834F-574DF96B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219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DEB02-CC1A-4C08-91EA-B56E8D3C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F324D-60F9-481D-9639-5BD9611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(1,3)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309A8-C69A-4431-9577-62293059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33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60×10 + 40×5 + 100×7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48737-6722-4BC7-9D93-75F7A0B6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339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= 1 500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84AE6-26E8-4C6A-8B45-129278F8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5219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8E8FA-DB49-449D-89AC-BF71C009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D1DAF-277B-4AC7-9432-AC2033A0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(2,2)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803FB-7451-4F24-B1AF-8C727381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33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2² + 2² + 3²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9DCBF-856A-4934-961E-167749D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7339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= 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BD4B6-25F5-4A40-AE0F-CEF10BC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5219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F09E1-CFFA-414D-9247-98728100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B81168-9B51-46E4-AE90-90FF09B6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(2,3)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05564D-9D2B-41C7-B3D5-6C50DB87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81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2×10 + 2×5 + 3×7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1F0B0D-52DC-44D3-9490-0427106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3816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= 51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568EE3-B3A6-4CA3-A1A1-DB8DC38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5219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35F591-27F3-4880-A70D-A246E858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483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17A176-ACD3-4F05-8D05-F9D9510C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67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(3,3)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F0E032-1B73-4BF3-9A43-C8F20D66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81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10² + 5² + 7²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33E8A3-A55C-48B8-A1AB-98B0051E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3816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= 174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C871AA-8AAE-496B-A618-24FC94C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39C42E-29B7-4185-B104-BF96F05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1514535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CD22D0-A123-4153-9238-FD13D01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18390-67CC-42DB-BA17-3D6D33CE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639EB-0C46-4E78-BFD1-093D8AF4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Bước 2 — Tính giả nghịch đảo (XXᵀ)†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D2461-BB1E-43BA-A82E-7D5A199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01B4C-F74C-4C2C-A4E9-9F6D893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29F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FF4AE-EB50-40E4-A9A3-25B00B51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det(XXᵀ) = 176 400 ≠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C0763-7F7E-4387-977D-8A8B7E44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33525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Ma trận khả nghịch  ⇒  (XXᵀ)† = (XXᵀ)⁻¹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D6A3F-928F-443D-B7F2-3FE1AB87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Ma trận phụ hợp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A4E96-C255-44DE-9304-8C509F2A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8580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8E233-F102-4F3D-9A71-1DE55DCB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4389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adj(XXᵀ) =  ⎡   357   −10500        0⎤</a:t>
            </a:r>
          </a:p>
          <a:p xmlns:a="http://schemas.openxmlformats.org/drawingml/2006/main">
            <a:pPr algn="ctr">
              <a:defRPr sz="16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     ⎢−10500   394800   −25200⎥</a:t>
            </a:r>
          </a:p>
          <a:p xmlns:a="http://schemas.openxmlformats.org/drawingml/2006/main">
            <a:pPr algn="ctr">
              <a:defRPr sz="16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     ⎣     0   −25200     8400⎦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33DE2-7081-426F-880D-25548870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37338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24215-370E-4F32-9E22-CD1BEBF4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6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AA6A6"/>
                </a:solidFill>
                <a:latin typeface="DejaVu Sans"/>
                <a:ea typeface="DejaVu Sans"/>
                <a:cs typeface="DejaVu Sans"/>
              </a:rPr>
              <a:t>KẾT QUẢ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0FE03-2152-4895-B8A0-427E8CE7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(XXᵀ)† =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4C3A4-69AE-4219-B89E-552DBAF7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337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1 / 176 400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6A53B-1580-42FF-94B0-C32483B9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909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22966-CABC-413E-9734-10ACC8E6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335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⎡   357   −10500       0⎤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⎢−10500   394800  −25200⎥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⎣     0   −25200    8400⎦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74BDD-F2EE-4E59-A2FB-D543693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598D1-A233-44F3-84A8-A2FA988B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1889938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526D2-E0EA-4B0A-B749-B9ED4B68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B04F7-CB94-4FD5-B7EC-461F9EBA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33E83-759F-4A6D-A39C-6A72F16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Bước 3 — Tính tích 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909C5-83B9-4471-91EF-65754526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9F6F7-FF40-4B21-B6D2-401D8017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6CB70-573D-4EEC-9DD6-B6019064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57721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Xy =  ⎡60   40   100⎤ ⎡10⎤</a:t>
            </a:r>
          </a:p>
          <a:p xmlns:a="http://schemas.openxmlformats.org/drawingml/2006/main">
            <a:pPr algn="ctr">
              <a:defRPr sz="19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⎢ 2    2     3⎥ ⎢12⎥</a:t>
            </a:r>
          </a:p>
          <a:p xmlns:a="http://schemas.openxmlformats.org/drawingml/2006/main">
            <a:pPr algn="ctr">
              <a:defRPr sz="19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⎣10    5     7⎦ ⎣20⎦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055F5-0AAA-4F3C-A47D-AF1FD595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66850"/>
            <a:ext cx="4381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1AA6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BBAEC-2F29-44F8-A567-8CF4770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3962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Xy =  ⎡3080⎤</a:t>
            </a:r>
          </a:p>
          <a:p xmlns:a="http://schemas.openxmlformats.org/drawingml/2006/main">
            <a:pPr algn="ctr">
              <a:defRPr sz="232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⎢ 104⎥</a:t>
            </a:r>
          </a:p>
          <a:p xmlns:a="http://schemas.openxmlformats.org/drawingml/2006/main">
            <a:pPr algn="ctr">
              <a:defRPr sz="232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⎣ 300⎦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C9B1C-FDE2-4A3F-A3D0-BA7086FB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5C702-6D7D-4B98-9840-60CA4B1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1BE84-7F85-4101-8D78-F8361BC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Hàng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53C96-C62E-486D-BDE2-583B5E03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862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60×10 + 40×12 + 100×20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1501A-2708-4B1A-B1E7-EDFF850E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= 3 080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B34D9-9C71-4ACA-9DE7-1DA01F0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B3C06-DDDC-4D3D-8AE5-B5419F5B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3AD94-0B40-4BE3-8F84-9E57534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Hàng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B59ED-94D7-48AA-971F-2FF07023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339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2×10 + 2×12 + 3×20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0732F-3AB7-4FC0-A666-800A66E7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= 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EA1C7-43C7-4378-B38C-DE9DEA6C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56BB5-56B1-49FF-847A-ACE22D43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17F3C-DE40-4770-A0EB-E380BEDF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Hàng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594D0-9C2B-465C-A0F6-8F0D782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10×10 + 5×12 + 7×20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73920-084D-4FE1-963C-7345C4D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816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= 300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B4053-4E8A-430C-AFD4-B0BE5664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61715F-C140-4F68-8FB9-65E4B911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150345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7FA9-F215-4AE5-9ABF-A2F11BB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C2FEA-B232-4B79-BDD7-91418C7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337BC-C39A-479F-8C60-801E9C7B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Bước 4 — Thay vào công thức tính 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39DEA-136B-4E55-9F13-6DDAF088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89FC1-A588-432B-ACDB-CE4CFE0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870D1-F42A-4C0F-B1DB-65F8306A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 = (XXᵀ)† 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2B316-1457-4487-9AC3-DCA23565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04522-E9D5-477C-A3DB-A32B3B0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55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w =  1 / 176 400  ×  ⎡   357   −10500        0⎤  ⎡3080⎤</a:t>
            </a:r>
          </a:p>
          <a:p xmlns:a="http://schemas.openxmlformats.org/drawingml/2006/main">
            <a:pPr algn="ctr">
              <a:defRPr sz="17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              ⎢−10500   394800   −25200⎥  ⎢ 104⎥</a:t>
            </a:r>
          </a:p>
          <a:p xmlns:a="http://schemas.openxmlformats.org/drawingml/2006/main">
            <a:pPr algn="ctr">
              <a:defRPr sz="17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              ⎣     0   −25200     8400⎦  ⎣ 300⎦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CDFEC-4AF3-4E18-AC97-7B09B88B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7429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1A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C9C09-63F2-4E5D-BFAC-8C03BBD5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53025"/>
            <a:ext cx="6896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1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w = 1 / 176 400  ×  ⎡   7 560⎤</a:t>
            </a:r>
          </a:p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               ⎢1 159 200⎥</a:t>
            </a:r>
          </a:p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rPr>
              <a:t>                         ⎣−100 800⎦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D356A-B0D5-4367-B352-D901AD9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267C9-3CF2-4726-B405-985698F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1722237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3EA6BB-4A9E-4972-B339-142FCCC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F8557-235E-4DC6-99F5-1DB8C1DC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9C661-3070-49A4-844C-5B397FA8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Tính từng thành phần của vector trọng số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4E8BA-6C1D-43E2-8CEC-E224092C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4F6D6-F257-4081-AA10-A7DD365F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4F587-25C9-4328-8288-9074F859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" cy="12573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5D19B-0BF2-4955-9A1F-0355C56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56A93-2808-4594-9AA1-C226E070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90675"/>
            <a:ext cx="6715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357×3080 − 10500×104 + 0×300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E2A9E-9E29-4371-A310-615767B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95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7 560 / 176 400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76C8D-BF8E-4999-8FED-5538928F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28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=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ABB47-79BB-4FE3-B868-B9E0BE0A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247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66665-CF99-469B-B756-49A99C57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3 / 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B42A8-B52C-40F3-950C-2C96B478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83486-DE49-4050-99FF-62945F5B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47750" cy="12573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5201C-9419-451D-9D48-B8C86276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4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CEBD1-350A-46DE-BF0D-8284E022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6715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−10500×3080 + 394800×104 − 25200×300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A6F56-EAFC-4B73-A446-18E89FAE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00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1 159 200 / 176 400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F416A-C634-4918-B12C-2D799433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=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97BCE-04B8-44C1-BD01-E1A6B44F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0400"/>
            <a:ext cx="2247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DD363-DFF1-48CF-ACF0-1637DD94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040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AA6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AA6A6"/>
                </a:solidFill>
                <a:latin typeface="DejaVu Sans"/>
                <a:ea typeface="DejaVu Sans"/>
                <a:cs typeface="DejaVu Sans"/>
              </a:rPr>
              <a:t>46 / 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90E1B-F60A-4CE5-99C7-5316C1B3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7FB4B-A4A6-42DC-8581-A63FBC6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47750" cy="12573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29F3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4A5F8-6D38-4982-8F1B-38B73E09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4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BAB7C-2B5D-4AEF-A205-45ED2B5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00575"/>
            <a:ext cx="6715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0×3080 − 25200×104 + 8400×300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0D3AD-41FB-45FD-8EA0-3C3776CA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−100 800 / 176 400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49361-4CD3-4391-8C59-CE82DF0D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387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=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777B2-D56A-4AE4-8E9C-28BD5394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2247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7D901-0932-45B8-AD35-1DA6ECBB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−4 / 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16450-64D1-45B9-A557-516C0090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C4370-6A5F-48E3-B01D-E9209E73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853699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32860-7605-4712-B0BA-7FB88C63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9B505-7F6C-4715-A871-DD557BB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844CD-3D94-46EA-9AC6-A78EF67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Vector trọng số thu được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65CC1-0AC6-4D7A-96CE-CDE96223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3341B-4BC0-450E-A3AB-690455F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006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E1FC0-5C31-405B-8137-0A1A4DC5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6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AA6A6"/>
                </a:solidFill>
                <a:latin typeface="DejaVu Sans"/>
                <a:ea typeface="DejaVu Sans"/>
                <a:cs typeface="DejaVu Sans"/>
              </a:rPr>
              <a:t>DẠNG PHÂN SỐ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A5469-3808-44B9-B7B7-F8061898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46291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7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w =  ⎡ 3/70 ⎤</a:t>
            </a:r>
          </a:p>
          <a:p xmlns:a="http://schemas.openxmlformats.org/drawingml/2006/main">
            <a:pPr algn="ctr">
              <a:defRPr sz="307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7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⎢ 46/7 ⎥</a:t>
            </a:r>
          </a:p>
          <a:p xmlns:a="http://schemas.openxmlformats.org/drawingml/2006/main">
            <a:pPr algn="ctr">
              <a:defRPr sz="307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7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⎣−4/7 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E7090-A15E-432D-B6C4-A47A7C9A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9D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B7C9D6"/>
                </a:solidFill>
                <a:latin typeface="DejaVu Sans"/>
                <a:ea typeface="DejaVu Sans"/>
                <a:cs typeface="DejaVu Sans"/>
              </a:rPr>
              <a:t>Giữ nguyên phân số để tránh sai số làm tròn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51DF5-6D55-4139-BB0A-3BBC3A8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3530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C8526-3873-42BF-BFF4-C3049C0D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478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DẠNG THẬP PHÂN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56336-25AF-40A7-BEFE-E7C4E24B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743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CFA15-091B-40CA-86E0-FA78F15D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98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w₁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BE219-7214-49B9-9C93-59C3C15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0.042857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AE245-1664-4F1E-8BC3-B7FCA9DA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86100"/>
            <a:ext cx="4743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559C7-7A6D-4F4B-8828-EE3817BB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w₂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54F46-72C7-45E0-9702-A93CFC4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6.571429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EE2DD-7874-4C34-AE48-ACB9D9D0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62400"/>
            <a:ext cx="4743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F6F97-F9B5-4C2F-AB87-E2C880A3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624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w₃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0FA2D-8BF5-4822-89BB-0DEAF4BC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−0.571429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EEFA3-3B29-4361-98E6-3C1A6FCC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B6BAF-52A6-43B7-9C4D-B02499DE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Tính trọng số bằng giả nghịch đảo Moore–Penrose</a:t>
            </a:r>
          </a:p>
        </p:txBody>
      </p:sp>
    </p:spTree>
    <p:extLst>
      <p:ext uri="{BB962C8B-B14F-4D97-AF65-F5344CB8AC3E}">
        <p14:creationId xmlns:p14="http://schemas.microsoft.com/office/powerpoint/2010/main" val="540273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807B6-4B97-4199-A35A-E1E3F5D7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19868-2CBB-436F-AA32-63377967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HỒI QUY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DDF79-E997-4EDA-96A4-1FEE9BBE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Dự đoán giá cho căn nhà mới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74CEE-7523-47FD-AD60-3A555910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F71F7-8F98-403E-90B4-997A325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Đầu vào cần dự đoán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BF241-F2BE-4255-9C2D-DC20F1E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5148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7EFBC-57C3-4F9F-A6A2-0C1E5F2A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Diện tích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9F127-9A07-40F2-9F21-FB368C12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431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50 m²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96DCF-9D2E-4FEC-B516-51226A70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5148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A6895-5949-4839-A48D-01F0048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Số phòng ngủ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300A8-7126-47C4-A35D-ED3A90D6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2 phòng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D93AF-8654-4B18-A606-6C4DF45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5148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7D43B-B794-4E50-984A-62C829F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Khoảng cách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66C77-280B-4C8F-8529-1BD2AA3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8 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C13AA-96FE-4D6D-AF8B-A945C8EE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5148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1AA6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B627C-1C32-4516-85CA-CBAD247D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x = [50, 2, 8]ᵀ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7A94A-4091-4366-A56D-60FBA45A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47800"/>
            <a:ext cx="60007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4DBFD-915F-4FCC-9752-24D4C99B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5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AA6A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AA6A6"/>
                </a:solidFill>
                <a:latin typeface="DejaVu Sans"/>
                <a:ea typeface="DejaVu Sans"/>
                <a:cs typeface="DejaVu Sans"/>
              </a:rPr>
              <a:t>ŷ = wᵀx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7F3EA-CE82-4966-93F0-72DA698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535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= (3/70)×50 + (46/7)×2 − (4/7)×8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0B000-9387-4B35-9CC0-2074BE9C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90850"/>
            <a:ext cx="535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9D7E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9D7E3"/>
                </a:solidFill>
                <a:latin typeface="DejaVu Sans"/>
                <a:ea typeface="DejaVu Sans"/>
                <a:cs typeface="DejaVu Sans"/>
              </a:rPr>
              <a:t>= 15/7 + 92/7 − 32/7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A8B11-CBFB-4AB2-B3D0-2DE2B8E2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535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9F3D"/>
                </a:solidFill>
                <a:latin typeface="DejaVu Sans"/>
                <a:ea typeface="DejaVu Sans"/>
                <a:cs typeface="DejaVu Sans"/>
              </a:rPr>
              <a:t>= 75/7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D45A1-04D3-40DD-A931-2516AA93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361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9F3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BFE48-C84D-44D0-9EC3-EB27D559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≈ 10,71 tỷ đồng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4A535-D85B-432A-A173-99C0FD41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F743E-F911-49B4-9ED3-4D4A6100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Kết luận: với các trọng số đã tính, mô hình dự đoán giá căn nhà mới khoảng 10,71 tỷ đồng.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FB6CC-6013-4FEB-8A4A-5823E43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E8AC5-4E23-4EEF-9FDE-C9D4676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0758A"/>
                </a:solidFill>
                <a:latin typeface="DejaVu Sans"/>
                <a:ea typeface="DejaVu Sans"/>
                <a:cs typeface="DejaVu Sans"/>
              </a:rPr>
              <a:t>Kết quả dự đoán từ mô hình không có hệ số chặn</a:t>
            </a:r>
          </a:p>
        </p:txBody>
      </p:sp>
    </p:spTree>
    <p:extLst>
      <p:ext uri="{BB962C8B-B14F-4D97-AF65-F5344CB8AC3E}">
        <p14:creationId xmlns:p14="http://schemas.microsoft.com/office/powerpoint/2010/main" val="1164532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2026-09-10T08:12:27.7840000Z</dcterms:created>
  <dcterms:modified xsi:type="dcterms:W3CDTF">2026-09-10T08:12:27.7840000Z</dcterms:modified>
</coreProperties>
</file>